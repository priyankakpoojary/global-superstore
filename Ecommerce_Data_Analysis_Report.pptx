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2260606</c:v>
                </c:pt>
                <c:pt idx="1">
                  <c:v>2684742</c:v>
                </c:pt>
                <c:pt idx="2">
                  <c:v>3406382</c:v>
                </c:pt>
                <c:pt idx="3">
                  <c:v>4299653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0B1F4B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4752815</c:v>
                </c:pt>
                <c:pt idx="1">
                  <c:v>4110201</c:v>
                </c:pt>
                <c:pt idx="2">
                  <c:v>3788367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Technology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827787</c:v>
                </c:pt>
                <c:pt idx="1">
                  <c:v>1027688</c:v>
                </c:pt>
                <c:pt idx="2">
                  <c:v>1279023</c:v>
                </c:pt>
                <c:pt idx="3">
                  <c:v>1618317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Furniture</c:v>
                </c:pt>
              </c:strCache>
            </c:strRef>
          </c:tx>
          <c:spPr>
            <a:solidFill>
              <a:srgbClr val="0B1F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756724</c:v>
                </c:pt>
                <c:pt idx="1">
                  <c:v>861328</c:v>
                </c:pt>
                <c:pt idx="2">
                  <c:v>1116365</c:v>
                </c:pt>
                <c:pt idx="3">
                  <c:v>1375784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Office Supplies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676095</c:v>
                </c:pt>
                <c:pt idx="1">
                  <c:v>795726</c:v>
                </c:pt>
                <c:pt idx="2">
                  <c:v>1010994</c:v>
                </c:pt>
                <c:pt idx="3">
                  <c:v>1305552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248609</c:v>
                </c:pt>
                <c:pt idx="1">
                  <c:v>308728</c:v>
                </c:pt>
                <c:pt idx="2">
                  <c:v>408394</c:v>
                </c:pt>
                <c:pt idx="3">
                  <c:v>503908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APAC</c:v>
                  </c:pt>
                  <c:pt idx="1">
                    <c:v>EU</c:v>
                  </c:pt>
                  <c:pt idx="2">
                    <c:v>US</c:v>
                  </c:pt>
                  <c:pt idx="3">
                    <c:v>LATAM</c:v>
                  </c:pt>
                  <c:pt idx="4">
                    <c:v>EMEA</c:v>
                  </c:pt>
                  <c:pt idx="5">
                    <c:v>Africa</c:v>
                  </c:pt>
                  <c:pt idx="6">
                    <c:v>Canada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3585344</c:v>
                </c:pt>
                <c:pt idx="1">
                  <c:v>2940241</c:v>
                </c:pt>
                <c:pt idx="2">
                  <c:v>2302077</c:v>
                </c:pt>
                <c:pt idx="3">
                  <c:v>2166670</c:v>
                </c:pt>
                <c:pt idx="4">
                  <c:v>806555</c:v>
                </c:pt>
                <c:pt idx="5">
                  <c:v>783564</c:v>
                </c:pt>
                <c:pt idx="6">
                  <c:v>66932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Office Supplies</c:v>
                  </c:pt>
                  <c:pt idx="2">
                    <c:v>Furniture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13.98</c:v>
                </c:pt>
                <c:pt idx="1">
                  <c:v>13.69</c:v>
                </c:pt>
                <c:pt idx="2">
                  <c:v>6.97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B1F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Copiers</c:v>
                  </c:pt>
                  <c:pt idx="1">
                    <c:v>Phones</c:v>
                  </c:pt>
                  <c:pt idx="2">
                    <c:v>Bookcases</c:v>
                  </c:pt>
                  <c:pt idx="3">
                    <c:v>Chairs</c:v>
                  </c:pt>
                  <c:pt idx="4">
                    <c:v>Appliances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259153</c:v>
                </c:pt>
                <c:pt idx="1">
                  <c:v>216643</c:v>
                </c:pt>
                <c:pt idx="2">
                  <c:v>161942</c:v>
                </c:pt>
                <c:pt idx="3">
                  <c:v>141982</c:v>
                </c:pt>
                <c:pt idx="4">
                  <c:v>141681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0B1F4B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6510904</c:v>
                </c:pt>
                <c:pt idx="1">
                  <c:v>3830108</c:v>
                </c:pt>
                <c:pt idx="2">
                  <c:v>2310371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Data Analytics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Report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3657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88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K 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 Solutions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 |  51,325 Records  |  2011–2014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 Solutions  |  Data Analytics Internship  |  May–June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3891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9875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3167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structure, key columns, and data cleaning steps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83664"/>
            <a:ext cx="43891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83664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9568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Profit, Orders, and Avg Discount at a glance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52928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52928"/>
            <a:ext cx="43891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52928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926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Trends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2552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performance across 2011–2014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22192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22192"/>
            <a:ext cx="43891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22192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8953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Regional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2245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 across 7 global markets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914400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914400"/>
            <a:ext cx="43891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914400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98755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Product Insights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13167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and loss-making sub-categories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1883664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1883664"/>
            <a:ext cx="43891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883664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19568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2286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Consumer, Corporate, and Home Office breakdown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2852928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2852928"/>
            <a:ext cx="43891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852928"/>
            <a:ext cx="438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94960" y="2926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32552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from the 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 Solutions  |  Data Analytics Internship  | 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920240" cy="10058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51,325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1920240" cy="10058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1920240" cy="10058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– 2014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868680"/>
            <a:ext cx="1920240" cy="10058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7512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in Dataset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1554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order_id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Unique identifier for each order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order_date / ship_date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Order placement and shipment dates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category / sub_category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Product category classification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sales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Revenue per transaction (USD)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Numeric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profit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Net profit per transaction (USD)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Numeric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discount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Discount applied (0–1 scale)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Numeric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market / region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Geographic market and sub-region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segment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Customer segment (Consumer / Corporate / Home Office)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ship_mode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Shipping method used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 Solutions  |  Data Analytics Internship  | 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 — 2011 to 2014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$12.65M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markets &amp; years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86868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868680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$1.47M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 overall margin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86868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868680"/>
            <a:ext cx="20116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25,029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IDs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868680"/>
            <a:ext cx="2011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86868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categories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Revenue Growth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65760" y="3017520"/>
          <a:ext cx="457200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5303520" y="2697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3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5212080" y="2999232"/>
          <a:ext cx="3657600" cy="18013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 Solutions  |  Data Analytics Internship  |  2026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Trends (2011–2014)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Sales by Year ($)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97880" y="7772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Trend by Year ($)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852160" y="1097280"/>
          <a:ext cx="29260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913632"/>
            <a:ext cx="2743200" cy="8229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5760" y="3913632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" y="3959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Growth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5488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nearly doubled from 2011 to 2014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46120" y="3913632"/>
            <a:ext cx="2743200" cy="8229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3913632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55848" y="3959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55848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category drove the highest revenue every year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3913632"/>
            <a:ext cx="2743200" cy="8229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3913632"/>
            <a:ext cx="54864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36208" y="3959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↑ 103%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236208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more than doubled over the 4-year period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 Solutions  |  Data Analytics Internship  |  2026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Regional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Market ($)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777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Countries by Sales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170432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207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14081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06640" y="1298448"/>
            <a:ext cx="11887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06640" y="1298448"/>
            <a:ext cx="1081735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0" y="1298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0" y="1700784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0720" y="19385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$0.93M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406640" y="1828800"/>
            <a:ext cx="11887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0" y="1828800"/>
            <a:ext cx="433883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0" y="1828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2231136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60720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760720" y="24688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$0.86M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406640" y="2359152"/>
            <a:ext cx="11887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06640" y="2359152"/>
            <a:ext cx="404165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0" y="235915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669280" y="2761488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760720" y="27980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760720" y="29992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$0.70M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406640" y="2889504"/>
            <a:ext cx="11887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06640" y="2889504"/>
            <a:ext cx="32689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06640" y="2889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669280" y="3291840"/>
            <a:ext cx="3108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760720" y="3328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760720" y="35295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$0.63M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406640" y="3419856"/>
            <a:ext cx="11887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406640" y="3419856"/>
            <a:ext cx="2971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06640" y="34198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65760" y="4096512"/>
            <a:ext cx="8412480" cy="65836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65760" y="4096512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41330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APAC is the largest market ($3.59M / 28.3% of total), while Canada remains significantly underpenetrated ($67K / 0.5%). The US is the top single country at $2.30M.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 Solutions  |  Data Analytics Internship  |  2026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Product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Category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39319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7772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Sub-Categories by Profit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572000" y="1097280"/>
          <a:ext cx="42062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Sub-Category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65760" y="3401568"/>
            <a:ext cx="3931920" cy="86868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65760" y="3401568"/>
            <a:ext cx="54864" cy="8686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3456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sub-category incurred a net loss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37307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–$64,113  |  High discount avg: 16.8%  |  Furniture category drag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0" y="30632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 by Category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401568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46304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Discount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Furniture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43F5E"/>
                          </a:solidFill>
                        </a:rPr>
                        <a:t>16.8%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Lowest margin (6.97%)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Office Supplies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13.7%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Mid margin (13.69%)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</a:rPr>
                        <a:t>13.5%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Best margin (13.98%)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 Solutions  |  Data Analytics Internship  |  2026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Share by Segment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4206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777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Breakdown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170432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1170432"/>
            <a:ext cx="32004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39512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39512" y="1554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$6.51M   |   Qty: 92,202   |   Share: 51.5%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2267712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267712"/>
            <a:ext cx="320040" cy="96012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39512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39512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$3.83M   |   Qty: 53,614   |   Share: 30.3%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3364992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3364992"/>
            <a:ext cx="3200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39512" y="3429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39512" y="3749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$2.31M   |   Qty: 32,606   |   Share: 18.2%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Distribution by Ship Mode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420624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65760" y="4233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30,796 orders (60%)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542032" y="420624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542032" y="4233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Class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542032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10,318 orders (20%)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18304" y="420624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718304" y="4233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18304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7,512 orders (14.6%)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894576" y="420624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894576" y="4233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894576" y="4480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2,699 orders (5.3%)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 Solutions  |  Data Analytics Internship  |  2026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3891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438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941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Dominates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2801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$3.59M (28.3% share), APAC is the #1 market. Invest further in Australian and Chinese sub-markets to maintain leadership.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48840"/>
            <a:ext cx="438912" cy="11430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48840"/>
            <a:ext cx="438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2219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Has Best ROI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5603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delivers the highest margin (13.98%) despite large discounts. Prioritize upselling Copiers and Phones.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438912" cy="11430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29000"/>
            <a:ext cx="438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3502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Sub-Category Losing Money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38404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generated –$64K in losses. Review pricing strategy and reduce average discount from current levels.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68680"/>
            <a:ext cx="43891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68680"/>
            <a:ext cx="438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76088" y="941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= Core Revenue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76088" y="12801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51.5% of all revenue comes from Consumer segment. Loyalty programs and targeted campaigns can drive repeat business.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48840"/>
            <a:ext cx="438912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148840"/>
            <a:ext cx="438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76088" y="22219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is Hurting Furniture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6088" y="25603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has the highest avg discount (16.8%) yet lowest margin (6.97%). Reduce discounts or reposition pricing.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429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29000"/>
            <a:ext cx="438912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29000"/>
            <a:ext cx="438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76088" y="3502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Growth is Strong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76088" y="38404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90% from 2011–2014. Sustain this trajectory by expanding into underpenetrated markets like Canada and Africa.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 Solutions  |  Data Analytics Internship  |  2026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Data Analytics  |  Primeor Solutions Internship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657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K P 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 — 51,325 records (2011–2014)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· PowerPoint · Excel · 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Hashtags: </a:t>
            </a:r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#PrimeorSolutions  #PrimeorDataAnalytics  #PrimeorInternship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8828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 Solutions  |  Data Analytics Internship  |  May–June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Data Analytics Report</dc:title>
  <dc:subject>PptxGenJS Presentation</dc:subject>
  <dc:creator>Priyanka K P</dc:creator>
  <cp:lastModifiedBy>Priyanka K P</cp:lastModifiedBy>
  <cp:revision>1</cp:revision>
  <dcterms:created xsi:type="dcterms:W3CDTF">2026-05-25T07:20:58Z</dcterms:created>
  <dcterms:modified xsi:type="dcterms:W3CDTF">2026-05-25T07:20:58Z</dcterms:modified>
</cp:coreProperties>
</file>